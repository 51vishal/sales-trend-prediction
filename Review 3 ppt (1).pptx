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276" r:id="rId3"/>
    <p:sldId id="277" r:id="rId4"/>
    <p:sldId id="278" r:id="rId5"/>
    <p:sldId id="279" r:id="rId6"/>
    <p:sldId id="280" r:id="rId7"/>
    <p:sldId id="281" r:id="rId8"/>
    <p:sldId id="263" r:id="rId9"/>
    <p:sldId id="288" r:id="rId10"/>
    <p:sldId id="289" r:id="rId11"/>
    <p:sldId id="282" r:id="rId12"/>
    <p:sldId id="267" r:id="rId13"/>
    <p:sldId id="283" r:id="rId14"/>
    <p:sldId id="287" r:id="rId15"/>
    <p:sldId id="270" r:id="rId16"/>
    <p:sldId id="271" r:id="rId17"/>
    <p:sldId id="284" r:id="rId18"/>
    <p:sldId id="285" r:id="rId19"/>
    <p:sldId id="286" r:id="rId20"/>
    <p:sldId id="290" r:id="rId21"/>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000000"/>
          </p15:clr>
        </p15:guide>
        <p15:guide id="2" pos="3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08" autoAdjust="0"/>
  </p:normalViewPr>
  <p:slideViewPr>
    <p:cSldViewPr snapToGrid="0">
      <p:cViewPr>
        <p:scale>
          <a:sx n="75" d="100"/>
          <a:sy n="75" d="100"/>
        </p:scale>
        <p:origin x="-946" y="-235"/>
      </p:cViewPr>
      <p:guideLst>
        <p:guide orient="horz" pos="2160"/>
        <p:guide pos="384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7CAC3D2-CBA6-41B4-B38E-0C58F8394186}" type="datetimeFigureOut">
              <a:rPr lang="en-US" smtClean="0"/>
              <a:pPr/>
              <a:t>4/2/2026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223D419-CBDD-4CF7-BB98-391EA11594F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7EFD666-6830-DFE5-1C57-5E56EB0E52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BC40BBFA-7761-ECA3-CF4C-2433131655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302CE87D-F9ED-A074-0F13-CEB5AA44910F}"/>
              </a:ext>
            </a:extLst>
          </p:cNvPr>
          <p:cNvSpPr>
            <a:spLocks noGrp="1"/>
          </p:cNvSpPr>
          <p:nvPr>
            <p:ph type="dt" sz="half" idx="10"/>
          </p:nvPr>
        </p:nvSpPr>
        <p:spPr/>
        <p:txBody>
          <a:bodyPr/>
          <a:lstStyle/>
          <a:p>
            <a:fld id="{7F2EAF86-07AF-4CC9-98FB-90502430C392}" type="datetimeFigureOut">
              <a:rPr lang="en-IN" smtClean="0"/>
              <a:pPr/>
              <a:t>02-04-2026</a:t>
            </a:fld>
            <a:endParaRPr lang="en-IN"/>
          </a:p>
        </p:txBody>
      </p:sp>
      <p:sp>
        <p:nvSpPr>
          <p:cNvPr id="5" name="Footer Placeholder 4">
            <a:extLst>
              <a:ext uri="{FF2B5EF4-FFF2-40B4-BE49-F238E27FC236}">
                <a16:creationId xmlns="" xmlns:a16="http://schemas.microsoft.com/office/drawing/2014/main" id="{415793AB-912E-529C-670F-EFF137CC72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C12809B2-C11A-1C9D-A3BA-426835EF74CC}"/>
              </a:ext>
            </a:extLst>
          </p:cNvPr>
          <p:cNvSpPr>
            <a:spLocks noGrp="1"/>
          </p:cNvSpPr>
          <p:nvPr>
            <p:ph type="sldNum" sz="quarter" idx="12"/>
          </p:nvPr>
        </p:nvSpPr>
        <p:spPr/>
        <p:txBody>
          <a:bodyPr/>
          <a:lstStyle/>
          <a:p>
            <a:fld id="{825B7087-C9F7-4F31-9234-699737A94898}" type="slidenum">
              <a:rPr lang="en-IN" smtClean="0"/>
              <a:pPr/>
              <a:t>‹#›</a:t>
            </a:fld>
            <a:endParaRPr lang="en-IN"/>
          </a:p>
        </p:txBody>
      </p:sp>
    </p:spTree>
    <p:extLst>
      <p:ext uri="{BB962C8B-B14F-4D97-AF65-F5344CB8AC3E}">
        <p14:creationId xmlns="" xmlns:p14="http://schemas.microsoft.com/office/powerpoint/2010/main" val="3836936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1469DF-09D8-13D4-7210-8956170A210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8777F62C-1D9D-0942-F040-6AF515D633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9468BC42-7E58-D98E-2D1C-374E3538EBB6}"/>
              </a:ext>
            </a:extLst>
          </p:cNvPr>
          <p:cNvSpPr>
            <a:spLocks noGrp="1"/>
          </p:cNvSpPr>
          <p:nvPr>
            <p:ph type="dt" sz="half" idx="10"/>
          </p:nvPr>
        </p:nvSpPr>
        <p:spPr/>
        <p:txBody>
          <a:bodyPr/>
          <a:lstStyle/>
          <a:p>
            <a:fld id="{7F2EAF86-07AF-4CC9-98FB-90502430C392}" type="datetimeFigureOut">
              <a:rPr lang="en-IN" smtClean="0"/>
              <a:pPr/>
              <a:t>02-04-2026</a:t>
            </a:fld>
            <a:endParaRPr lang="en-IN"/>
          </a:p>
        </p:txBody>
      </p:sp>
      <p:sp>
        <p:nvSpPr>
          <p:cNvPr id="5" name="Footer Placeholder 4">
            <a:extLst>
              <a:ext uri="{FF2B5EF4-FFF2-40B4-BE49-F238E27FC236}">
                <a16:creationId xmlns="" xmlns:a16="http://schemas.microsoft.com/office/drawing/2014/main" id="{AE7ECE0A-3302-FFA5-0812-57D86F51A8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CA69D94F-7C19-5F09-DB6D-315915D7D7BC}"/>
              </a:ext>
            </a:extLst>
          </p:cNvPr>
          <p:cNvSpPr>
            <a:spLocks noGrp="1"/>
          </p:cNvSpPr>
          <p:nvPr>
            <p:ph type="sldNum" sz="quarter" idx="12"/>
          </p:nvPr>
        </p:nvSpPr>
        <p:spPr/>
        <p:txBody>
          <a:bodyPr/>
          <a:lstStyle/>
          <a:p>
            <a:fld id="{825B7087-C9F7-4F31-9234-699737A94898}" type="slidenum">
              <a:rPr lang="en-IN" smtClean="0"/>
              <a:pPr/>
              <a:t>‹#›</a:t>
            </a:fld>
            <a:endParaRPr lang="en-IN"/>
          </a:p>
        </p:txBody>
      </p:sp>
    </p:spTree>
    <p:extLst>
      <p:ext uri="{BB962C8B-B14F-4D97-AF65-F5344CB8AC3E}">
        <p14:creationId xmlns="" xmlns:p14="http://schemas.microsoft.com/office/powerpoint/2010/main" val="3850470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BC7D3DA-DE6F-794E-1DA6-CB95AB4280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E4C652B4-8A28-8EF2-273D-9089BB6B78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5CAD323B-AE20-0127-F380-5C585249ADEA}"/>
              </a:ext>
            </a:extLst>
          </p:cNvPr>
          <p:cNvSpPr>
            <a:spLocks noGrp="1"/>
          </p:cNvSpPr>
          <p:nvPr>
            <p:ph type="dt" sz="half" idx="10"/>
          </p:nvPr>
        </p:nvSpPr>
        <p:spPr/>
        <p:txBody>
          <a:bodyPr/>
          <a:lstStyle/>
          <a:p>
            <a:fld id="{7F2EAF86-07AF-4CC9-98FB-90502430C392}" type="datetimeFigureOut">
              <a:rPr lang="en-IN" smtClean="0"/>
              <a:pPr/>
              <a:t>02-04-2026</a:t>
            </a:fld>
            <a:endParaRPr lang="en-IN"/>
          </a:p>
        </p:txBody>
      </p:sp>
      <p:sp>
        <p:nvSpPr>
          <p:cNvPr id="5" name="Footer Placeholder 4">
            <a:extLst>
              <a:ext uri="{FF2B5EF4-FFF2-40B4-BE49-F238E27FC236}">
                <a16:creationId xmlns="" xmlns:a16="http://schemas.microsoft.com/office/drawing/2014/main" id="{63727448-B01F-28BE-4B4B-7BAF6EE8B9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539230F6-4E44-D8A7-CAF2-907956B13A25}"/>
              </a:ext>
            </a:extLst>
          </p:cNvPr>
          <p:cNvSpPr>
            <a:spLocks noGrp="1"/>
          </p:cNvSpPr>
          <p:nvPr>
            <p:ph type="sldNum" sz="quarter" idx="12"/>
          </p:nvPr>
        </p:nvSpPr>
        <p:spPr/>
        <p:txBody>
          <a:bodyPr/>
          <a:lstStyle/>
          <a:p>
            <a:fld id="{825B7087-C9F7-4F31-9234-699737A94898}" type="slidenum">
              <a:rPr lang="en-IN" smtClean="0"/>
              <a:pPr/>
              <a:t>‹#›</a:t>
            </a:fld>
            <a:endParaRPr lang="en-IN"/>
          </a:p>
        </p:txBody>
      </p:sp>
    </p:spTree>
    <p:extLst>
      <p:ext uri="{BB962C8B-B14F-4D97-AF65-F5344CB8AC3E}">
        <p14:creationId xmlns="" xmlns:p14="http://schemas.microsoft.com/office/powerpoint/2010/main" val="14095993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60E5796-81D1-CB4D-573B-4B851EE54DA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BE9356DD-F35B-8398-A960-6587B21754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947BA395-F041-0ECA-C0BE-1408DFCC1C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6792587C-CE2F-AF7A-F454-30138BF3CEC5}"/>
              </a:ext>
            </a:extLst>
          </p:cNvPr>
          <p:cNvSpPr>
            <a:spLocks noGrp="1"/>
          </p:cNvSpPr>
          <p:nvPr>
            <p:ph type="dt" sz="half" idx="10"/>
          </p:nvPr>
        </p:nvSpPr>
        <p:spPr/>
        <p:txBody>
          <a:bodyPr/>
          <a:lstStyle/>
          <a:p>
            <a:fld id="{7F2EAF86-07AF-4CC9-98FB-90502430C392}" type="datetimeFigureOut">
              <a:rPr lang="en-IN" smtClean="0"/>
              <a:pPr/>
              <a:t>02-04-2026</a:t>
            </a:fld>
            <a:endParaRPr lang="en-IN"/>
          </a:p>
        </p:txBody>
      </p:sp>
      <p:sp>
        <p:nvSpPr>
          <p:cNvPr id="6" name="Footer Placeholder 5">
            <a:extLst>
              <a:ext uri="{FF2B5EF4-FFF2-40B4-BE49-F238E27FC236}">
                <a16:creationId xmlns="" xmlns:a16="http://schemas.microsoft.com/office/drawing/2014/main" id="{B9CD3059-64F6-3356-A6AE-DE40545669F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73861AAF-4BBF-BB10-5D7D-C5D90943AF9D}"/>
              </a:ext>
            </a:extLst>
          </p:cNvPr>
          <p:cNvSpPr>
            <a:spLocks noGrp="1"/>
          </p:cNvSpPr>
          <p:nvPr>
            <p:ph type="sldNum" sz="quarter" idx="12"/>
          </p:nvPr>
        </p:nvSpPr>
        <p:spPr/>
        <p:txBody>
          <a:bodyPr/>
          <a:lstStyle/>
          <a:p>
            <a:fld id="{825B7087-C9F7-4F31-9234-699737A94898}" type="slidenum">
              <a:rPr lang="en-IN" smtClean="0"/>
              <a:pPr/>
              <a:t>‹#›</a:t>
            </a:fld>
            <a:endParaRPr lang="en-IN"/>
          </a:p>
        </p:txBody>
      </p:sp>
    </p:spTree>
    <p:extLst>
      <p:ext uri="{BB962C8B-B14F-4D97-AF65-F5344CB8AC3E}">
        <p14:creationId xmlns="" xmlns:p14="http://schemas.microsoft.com/office/powerpoint/2010/main" val="2461174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64C626D-D0D9-3D28-4655-D379D963656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31F50CE6-83B3-2DF3-E393-F7AE77ABE8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EE7D7070-A9B1-1CEE-2379-CCA15ECFD2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1F93D31F-ABB8-52DB-D633-4249C3B2A7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5619A5BF-B055-A86D-6FC5-16E0D399E8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23FBBC3B-7841-2CDE-E72C-BA04C03F51A3}"/>
              </a:ext>
            </a:extLst>
          </p:cNvPr>
          <p:cNvSpPr>
            <a:spLocks noGrp="1"/>
          </p:cNvSpPr>
          <p:nvPr>
            <p:ph type="dt" sz="half" idx="10"/>
          </p:nvPr>
        </p:nvSpPr>
        <p:spPr/>
        <p:txBody>
          <a:bodyPr/>
          <a:lstStyle/>
          <a:p>
            <a:fld id="{7F2EAF86-07AF-4CC9-98FB-90502430C392}" type="datetimeFigureOut">
              <a:rPr lang="en-IN" smtClean="0"/>
              <a:pPr/>
              <a:t>02-04-2026</a:t>
            </a:fld>
            <a:endParaRPr lang="en-IN"/>
          </a:p>
        </p:txBody>
      </p:sp>
      <p:sp>
        <p:nvSpPr>
          <p:cNvPr id="8" name="Footer Placeholder 7">
            <a:extLst>
              <a:ext uri="{FF2B5EF4-FFF2-40B4-BE49-F238E27FC236}">
                <a16:creationId xmlns="" xmlns:a16="http://schemas.microsoft.com/office/drawing/2014/main" id="{E67B37D3-6EF6-9A6F-CD4E-116CFBCB4BB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1DD5B779-6DA5-903A-5B5F-4A4E92F24692}"/>
              </a:ext>
            </a:extLst>
          </p:cNvPr>
          <p:cNvSpPr>
            <a:spLocks noGrp="1"/>
          </p:cNvSpPr>
          <p:nvPr>
            <p:ph type="sldNum" sz="quarter" idx="12"/>
          </p:nvPr>
        </p:nvSpPr>
        <p:spPr/>
        <p:txBody>
          <a:bodyPr/>
          <a:lstStyle/>
          <a:p>
            <a:fld id="{825B7087-C9F7-4F31-9234-699737A94898}" type="slidenum">
              <a:rPr lang="en-IN" smtClean="0"/>
              <a:pPr/>
              <a:t>‹#›</a:t>
            </a:fld>
            <a:endParaRPr lang="en-IN"/>
          </a:p>
        </p:txBody>
      </p:sp>
    </p:spTree>
    <p:extLst>
      <p:ext uri="{BB962C8B-B14F-4D97-AF65-F5344CB8AC3E}">
        <p14:creationId xmlns="" xmlns:p14="http://schemas.microsoft.com/office/powerpoint/2010/main" val="34720738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D3943DF-E84F-5AC8-2E5C-D71B3175E6F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BEC61405-B937-37CF-DFA4-298A61EF0661}"/>
              </a:ext>
            </a:extLst>
          </p:cNvPr>
          <p:cNvSpPr>
            <a:spLocks noGrp="1"/>
          </p:cNvSpPr>
          <p:nvPr>
            <p:ph type="dt" sz="half" idx="10"/>
          </p:nvPr>
        </p:nvSpPr>
        <p:spPr/>
        <p:txBody>
          <a:bodyPr/>
          <a:lstStyle/>
          <a:p>
            <a:fld id="{7F2EAF86-07AF-4CC9-98FB-90502430C392}" type="datetimeFigureOut">
              <a:rPr lang="en-IN" smtClean="0"/>
              <a:pPr/>
              <a:t>02-04-2026</a:t>
            </a:fld>
            <a:endParaRPr lang="en-IN"/>
          </a:p>
        </p:txBody>
      </p:sp>
      <p:sp>
        <p:nvSpPr>
          <p:cNvPr id="4" name="Footer Placeholder 3">
            <a:extLst>
              <a:ext uri="{FF2B5EF4-FFF2-40B4-BE49-F238E27FC236}">
                <a16:creationId xmlns="" xmlns:a16="http://schemas.microsoft.com/office/drawing/2014/main" id="{8ABBB970-34BA-15B0-3FB6-F0CD9049E47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04B78522-ACE6-359B-BE0C-A79D5EEA86BF}"/>
              </a:ext>
            </a:extLst>
          </p:cNvPr>
          <p:cNvSpPr>
            <a:spLocks noGrp="1"/>
          </p:cNvSpPr>
          <p:nvPr>
            <p:ph type="sldNum" sz="quarter" idx="12"/>
          </p:nvPr>
        </p:nvSpPr>
        <p:spPr/>
        <p:txBody>
          <a:bodyPr/>
          <a:lstStyle/>
          <a:p>
            <a:fld id="{825B7087-C9F7-4F31-9234-699737A94898}" type="slidenum">
              <a:rPr lang="en-IN" smtClean="0"/>
              <a:pPr/>
              <a:t>‹#›</a:t>
            </a:fld>
            <a:endParaRPr lang="en-IN"/>
          </a:p>
        </p:txBody>
      </p:sp>
    </p:spTree>
    <p:extLst>
      <p:ext uri="{BB962C8B-B14F-4D97-AF65-F5344CB8AC3E}">
        <p14:creationId xmlns="" xmlns:p14="http://schemas.microsoft.com/office/powerpoint/2010/main" val="2863532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2F41347F-9D5D-7145-C77F-3DA16146BBC2}"/>
              </a:ext>
            </a:extLst>
          </p:cNvPr>
          <p:cNvSpPr>
            <a:spLocks noGrp="1"/>
          </p:cNvSpPr>
          <p:nvPr>
            <p:ph type="dt" sz="half" idx="10"/>
          </p:nvPr>
        </p:nvSpPr>
        <p:spPr/>
        <p:txBody>
          <a:bodyPr/>
          <a:lstStyle/>
          <a:p>
            <a:fld id="{7F2EAF86-07AF-4CC9-98FB-90502430C392}" type="datetimeFigureOut">
              <a:rPr lang="en-IN" smtClean="0"/>
              <a:pPr/>
              <a:t>02-04-2026</a:t>
            </a:fld>
            <a:endParaRPr lang="en-IN"/>
          </a:p>
        </p:txBody>
      </p:sp>
      <p:sp>
        <p:nvSpPr>
          <p:cNvPr id="3" name="Footer Placeholder 2">
            <a:extLst>
              <a:ext uri="{FF2B5EF4-FFF2-40B4-BE49-F238E27FC236}">
                <a16:creationId xmlns="" xmlns:a16="http://schemas.microsoft.com/office/drawing/2014/main" id="{71ACBC1E-4D66-2443-1FF6-10CED434B26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71E72701-BAA9-2D53-69E5-EFDDCAE988FF}"/>
              </a:ext>
            </a:extLst>
          </p:cNvPr>
          <p:cNvSpPr>
            <a:spLocks noGrp="1"/>
          </p:cNvSpPr>
          <p:nvPr>
            <p:ph type="sldNum" sz="quarter" idx="12"/>
          </p:nvPr>
        </p:nvSpPr>
        <p:spPr/>
        <p:txBody>
          <a:bodyPr/>
          <a:lstStyle/>
          <a:p>
            <a:fld id="{825B7087-C9F7-4F31-9234-699737A94898}" type="slidenum">
              <a:rPr lang="en-IN" smtClean="0"/>
              <a:pPr/>
              <a:t>‹#›</a:t>
            </a:fld>
            <a:endParaRPr lang="en-IN"/>
          </a:p>
        </p:txBody>
      </p:sp>
    </p:spTree>
    <p:extLst>
      <p:ext uri="{BB962C8B-B14F-4D97-AF65-F5344CB8AC3E}">
        <p14:creationId xmlns="" xmlns:p14="http://schemas.microsoft.com/office/powerpoint/2010/main" val="3320777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A1BC785-61B4-8BB6-5A27-0A709C4EE3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8C9ED2CD-DE1E-C0E4-3929-7083DF56F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3DDC8112-BFC0-E861-B43D-AFCD482632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A7C88643-ED9E-7834-1AD9-0084D05BF9B5}"/>
              </a:ext>
            </a:extLst>
          </p:cNvPr>
          <p:cNvSpPr>
            <a:spLocks noGrp="1"/>
          </p:cNvSpPr>
          <p:nvPr>
            <p:ph type="dt" sz="half" idx="10"/>
          </p:nvPr>
        </p:nvSpPr>
        <p:spPr/>
        <p:txBody>
          <a:bodyPr/>
          <a:lstStyle/>
          <a:p>
            <a:fld id="{7F2EAF86-07AF-4CC9-98FB-90502430C392}" type="datetimeFigureOut">
              <a:rPr lang="en-IN" smtClean="0"/>
              <a:pPr/>
              <a:t>02-04-2026</a:t>
            </a:fld>
            <a:endParaRPr lang="en-IN"/>
          </a:p>
        </p:txBody>
      </p:sp>
      <p:sp>
        <p:nvSpPr>
          <p:cNvPr id="6" name="Footer Placeholder 5">
            <a:extLst>
              <a:ext uri="{FF2B5EF4-FFF2-40B4-BE49-F238E27FC236}">
                <a16:creationId xmlns="" xmlns:a16="http://schemas.microsoft.com/office/drawing/2014/main" id="{9793E3AB-0DAC-9E50-A1EB-4A756DFAED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6A9C86DE-007C-D6ED-D33E-923A1CDF1BBF}"/>
              </a:ext>
            </a:extLst>
          </p:cNvPr>
          <p:cNvSpPr>
            <a:spLocks noGrp="1"/>
          </p:cNvSpPr>
          <p:nvPr>
            <p:ph type="sldNum" sz="quarter" idx="12"/>
          </p:nvPr>
        </p:nvSpPr>
        <p:spPr/>
        <p:txBody>
          <a:bodyPr/>
          <a:lstStyle/>
          <a:p>
            <a:fld id="{825B7087-C9F7-4F31-9234-699737A94898}" type="slidenum">
              <a:rPr lang="en-IN" smtClean="0"/>
              <a:pPr/>
              <a:t>‹#›</a:t>
            </a:fld>
            <a:endParaRPr lang="en-IN"/>
          </a:p>
        </p:txBody>
      </p:sp>
    </p:spTree>
    <p:extLst>
      <p:ext uri="{BB962C8B-B14F-4D97-AF65-F5344CB8AC3E}">
        <p14:creationId xmlns="" xmlns:p14="http://schemas.microsoft.com/office/powerpoint/2010/main" val="308099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CE83292-CCED-A700-0CFC-301DE97900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BF673CED-1698-F0AD-510B-D7751EBED7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C39BC350-2EF3-BBAD-EF3F-B62EC591F0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5146C29C-6A27-4C5B-1934-5B53065B97A8}"/>
              </a:ext>
            </a:extLst>
          </p:cNvPr>
          <p:cNvSpPr>
            <a:spLocks noGrp="1"/>
          </p:cNvSpPr>
          <p:nvPr>
            <p:ph type="dt" sz="half" idx="10"/>
          </p:nvPr>
        </p:nvSpPr>
        <p:spPr/>
        <p:txBody>
          <a:bodyPr/>
          <a:lstStyle/>
          <a:p>
            <a:fld id="{7F2EAF86-07AF-4CC9-98FB-90502430C392}" type="datetimeFigureOut">
              <a:rPr lang="en-IN" smtClean="0"/>
              <a:pPr/>
              <a:t>02-04-2026</a:t>
            </a:fld>
            <a:endParaRPr lang="en-IN"/>
          </a:p>
        </p:txBody>
      </p:sp>
      <p:sp>
        <p:nvSpPr>
          <p:cNvPr id="6" name="Footer Placeholder 5">
            <a:extLst>
              <a:ext uri="{FF2B5EF4-FFF2-40B4-BE49-F238E27FC236}">
                <a16:creationId xmlns="" xmlns:a16="http://schemas.microsoft.com/office/drawing/2014/main" id="{A800A416-57ED-8CC0-BD10-12954DE0D7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8AADCBE1-A7F7-99DE-1F0A-129C571A5890}"/>
              </a:ext>
            </a:extLst>
          </p:cNvPr>
          <p:cNvSpPr>
            <a:spLocks noGrp="1"/>
          </p:cNvSpPr>
          <p:nvPr>
            <p:ph type="sldNum" sz="quarter" idx="12"/>
          </p:nvPr>
        </p:nvSpPr>
        <p:spPr/>
        <p:txBody>
          <a:bodyPr/>
          <a:lstStyle/>
          <a:p>
            <a:fld id="{825B7087-C9F7-4F31-9234-699737A94898}" type="slidenum">
              <a:rPr lang="en-IN" smtClean="0"/>
              <a:pPr/>
              <a:t>‹#›</a:t>
            </a:fld>
            <a:endParaRPr lang="en-IN"/>
          </a:p>
        </p:txBody>
      </p:sp>
    </p:spTree>
    <p:extLst>
      <p:ext uri="{BB962C8B-B14F-4D97-AF65-F5344CB8AC3E}">
        <p14:creationId xmlns="" xmlns:p14="http://schemas.microsoft.com/office/powerpoint/2010/main" val="1063586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BF2B7B6-6DBE-194C-82A0-C446194FB4E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4127DDF5-A7BF-B8EE-6B7C-897E56589F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A926AB72-5FB1-3C8C-A390-32F803B56E39}"/>
              </a:ext>
            </a:extLst>
          </p:cNvPr>
          <p:cNvSpPr>
            <a:spLocks noGrp="1"/>
          </p:cNvSpPr>
          <p:nvPr>
            <p:ph type="dt" sz="half" idx="10"/>
          </p:nvPr>
        </p:nvSpPr>
        <p:spPr/>
        <p:txBody>
          <a:bodyPr/>
          <a:lstStyle/>
          <a:p>
            <a:fld id="{7F2EAF86-07AF-4CC9-98FB-90502430C392}" type="datetimeFigureOut">
              <a:rPr lang="en-IN" smtClean="0"/>
              <a:pPr/>
              <a:t>02-04-2026</a:t>
            </a:fld>
            <a:endParaRPr lang="en-IN"/>
          </a:p>
        </p:txBody>
      </p:sp>
      <p:sp>
        <p:nvSpPr>
          <p:cNvPr id="5" name="Footer Placeholder 4">
            <a:extLst>
              <a:ext uri="{FF2B5EF4-FFF2-40B4-BE49-F238E27FC236}">
                <a16:creationId xmlns="" xmlns:a16="http://schemas.microsoft.com/office/drawing/2014/main" id="{75D11061-417A-6882-21A7-0839656F78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A3B11DEA-C6B5-5072-5BBA-409E3D81D625}"/>
              </a:ext>
            </a:extLst>
          </p:cNvPr>
          <p:cNvSpPr>
            <a:spLocks noGrp="1"/>
          </p:cNvSpPr>
          <p:nvPr>
            <p:ph type="sldNum" sz="quarter" idx="12"/>
          </p:nvPr>
        </p:nvSpPr>
        <p:spPr/>
        <p:txBody>
          <a:bodyPr/>
          <a:lstStyle/>
          <a:p>
            <a:fld id="{825B7087-C9F7-4F31-9234-699737A94898}" type="slidenum">
              <a:rPr lang="en-IN" smtClean="0"/>
              <a:pPr/>
              <a:t>‹#›</a:t>
            </a:fld>
            <a:endParaRPr lang="en-IN"/>
          </a:p>
        </p:txBody>
      </p:sp>
    </p:spTree>
    <p:extLst>
      <p:ext uri="{BB962C8B-B14F-4D97-AF65-F5344CB8AC3E}">
        <p14:creationId xmlns="" xmlns:p14="http://schemas.microsoft.com/office/powerpoint/2010/main" val="599982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4CA86D10-61D5-2DCF-02DF-5F9DF56EA0C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C56F176C-3725-7E75-D6D5-04235379DD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4108DB80-3284-EE15-5A38-D63F739E508B}"/>
              </a:ext>
            </a:extLst>
          </p:cNvPr>
          <p:cNvSpPr>
            <a:spLocks noGrp="1"/>
          </p:cNvSpPr>
          <p:nvPr>
            <p:ph type="dt" sz="half" idx="10"/>
          </p:nvPr>
        </p:nvSpPr>
        <p:spPr/>
        <p:txBody>
          <a:bodyPr/>
          <a:lstStyle/>
          <a:p>
            <a:fld id="{7F2EAF86-07AF-4CC9-98FB-90502430C392}" type="datetimeFigureOut">
              <a:rPr lang="en-IN" smtClean="0"/>
              <a:pPr/>
              <a:t>02-04-2026</a:t>
            </a:fld>
            <a:endParaRPr lang="en-IN"/>
          </a:p>
        </p:txBody>
      </p:sp>
      <p:sp>
        <p:nvSpPr>
          <p:cNvPr id="5" name="Footer Placeholder 4">
            <a:extLst>
              <a:ext uri="{FF2B5EF4-FFF2-40B4-BE49-F238E27FC236}">
                <a16:creationId xmlns="" xmlns:a16="http://schemas.microsoft.com/office/drawing/2014/main" id="{3C102FBD-454F-F66A-E4E1-7D04AE04A3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E1BF1F4B-4141-6D98-2C58-B511AF31A156}"/>
              </a:ext>
            </a:extLst>
          </p:cNvPr>
          <p:cNvSpPr>
            <a:spLocks noGrp="1"/>
          </p:cNvSpPr>
          <p:nvPr>
            <p:ph type="sldNum" sz="quarter" idx="12"/>
          </p:nvPr>
        </p:nvSpPr>
        <p:spPr/>
        <p:txBody>
          <a:bodyPr/>
          <a:lstStyle/>
          <a:p>
            <a:fld id="{825B7087-C9F7-4F31-9234-699737A94898}" type="slidenum">
              <a:rPr lang="en-IN" smtClean="0"/>
              <a:pPr/>
              <a:t>‹#›</a:t>
            </a:fld>
            <a:endParaRPr lang="en-IN"/>
          </a:p>
        </p:txBody>
      </p:sp>
    </p:spTree>
    <p:extLst>
      <p:ext uri="{BB962C8B-B14F-4D97-AF65-F5344CB8AC3E}">
        <p14:creationId xmlns="" xmlns:p14="http://schemas.microsoft.com/office/powerpoint/2010/main" val="4050834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7E8DD09B-839E-8BBC-60E8-9862B26150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4BED451F-F2BC-ECA6-E642-078871AF72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42A00BBF-7295-220E-A535-A5026ECE12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2EAF86-07AF-4CC9-98FB-90502430C392}" type="datetimeFigureOut">
              <a:rPr lang="en-IN" smtClean="0"/>
              <a:pPr/>
              <a:t>02-04-2026</a:t>
            </a:fld>
            <a:endParaRPr lang="en-IN"/>
          </a:p>
        </p:txBody>
      </p:sp>
      <p:sp>
        <p:nvSpPr>
          <p:cNvPr id="5" name="Footer Placeholder 4">
            <a:extLst>
              <a:ext uri="{FF2B5EF4-FFF2-40B4-BE49-F238E27FC236}">
                <a16:creationId xmlns="" xmlns:a16="http://schemas.microsoft.com/office/drawing/2014/main" id="{C6E7E635-A418-162A-34CE-88D2348ED9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B3BF6B26-D7B9-CD03-3E03-E056EF9F20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B7087-C9F7-4F31-9234-699737A94898}" type="slidenum">
              <a:rPr lang="en-IN" smtClean="0"/>
              <a:pPr/>
              <a:t>‹#›</a:t>
            </a:fld>
            <a:endParaRPr lang="en-IN"/>
          </a:p>
        </p:txBody>
      </p:sp>
    </p:spTree>
    <p:extLst>
      <p:ext uri="{BB962C8B-B14F-4D97-AF65-F5344CB8AC3E}">
        <p14:creationId xmlns="" xmlns:p14="http://schemas.microsoft.com/office/powerpoint/2010/main" val="38288983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warnandhra College of Engineering and Technology ...">
            <a:extLst>
              <a:ext uri="{FF2B5EF4-FFF2-40B4-BE49-F238E27FC236}">
                <a16:creationId xmlns="" xmlns:a16="http://schemas.microsoft.com/office/drawing/2014/main" id="{1451C000-EBAC-66A1-FC7B-0D6FEA5F2931}"/>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78210" y="205248"/>
            <a:ext cx="1905000" cy="1905000"/>
          </a:xfrm>
          <a:prstGeom prst="rect">
            <a:avLst/>
          </a:prstGeom>
          <a:noFill/>
          <a:extLst>
            <a:ext uri="{909E8E84-426E-40DD-AFC4-6F175D3DCCD1}">
              <a14:hiddenFill xmlns="" xmlns:a14="http://schemas.microsoft.com/office/drawing/2010/main">
                <a:solidFill>
                  <a:srgbClr val="FFFFFF"/>
                </a:solidFill>
              </a14:hiddenFill>
            </a:ext>
          </a:extLst>
        </p:spPr>
      </p:pic>
      <p:sp>
        <p:nvSpPr>
          <p:cNvPr id="2" name="TextBox 1">
            <a:extLst>
              <a:ext uri="{FF2B5EF4-FFF2-40B4-BE49-F238E27FC236}">
                <a16:creationId xmlns="" xmlns:a16="http://schemas.microsoft.com/office/drawing/2014/main" id="{D84D46EA-E3BF-E4D3-D955-E564D6103086}"/>
              </a:ext>
            </a:extLst>
          </p:cNvPr>
          <p:cNvSpPr txBox="1"/>
          <p:nvPr/>
        </p:nvSpPr>
        <p:spPr>
          <a:xfrm>
            <a:off x="2083210" y="205248"/>
            <a:ext cx="7044748" cy="1908215"/>
          </a:xfrm>
          <a:prstGeom prst="rect">
            <a:avLst/>
          </a:prstGeom>
          <a:noFill/>
        </p:spPr>
        <p:txBody>
          <a:bodyPr wrap="square" rtlCol="0">
            <a:spAutoFit/>
          </a:bodyPr>
          <a:lstStyle/>
          <a:p>
            <a:pPr algn="ctr"/>
            <a:r>
              <a:rPr lang="en-IN" sz="5400" dirty="0">
                <a:solidFill>
                  <a:srgbClr val="800080"/>
                </a:solidFill>
                <a:latin typeface="Arial Black" panose="020B0A04020102020204" pitchFamily="34" charset="0"/>
                <a:cs typeface="Times New Roman" panose="02020603050405020304" pitchFamily="18" charset="0"/>
              </a:rPr>
              <a:t>SWARNANDHRA</a:t>
            </a:r>
            <a:r>
              <a:rPr lang="en-IN" dirty="0"/>
              <a:t> </a:t>
            </a:r>
          </a:p>
          <a:p>
            <a:pPr algn="ctr"/>
            <a:r>
              <a:rPr lang="en-IN" dirty="0">
                <a:solidFill>
                  <a:srgbClr val="800080"/>
                </a:solidFill>
                <a:latin typeface="Arial Black" panose="020B0A04020102020204" pitchFamily="34" charset="0"/>
              </a:rPr>
              <a:t>College of Engineering and Technology</a:t>
            </a:r>
          </a:p>
          <a:p>
            <a:pPr algn="ctr"/>
            <a:r>
              <a:rPr lang="en-IN" dirty="0">
                <a:latin typeface="Arial Rounded MT Bold" panose="020F0704030504030204" pitchFamily="34" charset="0"/>
                <a:cs typeface="Times New Roman" panose="02020603050405020304" pitchFamily="18" charset="0"/>
              </a:rPr>
              <a:t>(Autonomous)</a:t>
            </a:r>
          </a:p>
          <a:p>
            <a:pPr algn="ctr"/>
            <a:r>
              <a:rPr lang="en-IN" sz="1200" dirty="0">
                <a:latin typeface="Lucida Fax" panose="02060602050505020204" pitchFamily="18" charset="0"/>
              </a:rPr>
              <a:t>Permanent Affiliated to JNTUK, Kakinada, Approved by AICTE</a:t>
            </a:r>
          </a:p>
          <a:p>
            <a:pPr algn="ctr"/>
            <a:r>
              <a:rPr lang="en-IN" sz="1200" dirty="0">
                <a:latin typeface="Lucida Fax" panose="02060602050505020204" pitchFamily="18" charset="0"/>
              </a:rPr>
              <a:t>Narsapur, Andhra Pradesh 534280,India</a:t>
            </a:r>
          </a:p>
        </p:txBody>
      </p:sp>
      <p:sp>
        <p:nvSpPr>
          <p:cNvPr id="3" name="TextBox 2">
            <a:extLst>
              <a:ext uri="{FF2B5EF4-FFF2-40B4-BE49-F238E27FC236}">
                <a16:creationId xmlns="" xmlns:a16="http://schemas.microsoft.com/office/drawing/2014/main" id="{AC74CC52-CF1B-21CD-F89B-69FCBD5E33EE}"/>
              </a:ext>
            </a:extLst>
          </p:cNvPr>
          <p:cNvSpPr txBox="1"/>
          <p:nvPr/>
        </p:nvSpPr>
        <p:spPr>
          <a:xfrm>
            <a:off x="1445342" y="2176084"/>
            <a:ext cx="8770374" cy="369332"/>
          </a:xfrm>
          <a:prstGeom prst="rect">
            <a:avLst/>
          </a:prstGeom>
          <a:noFill/>
        </p:spPr>
        <p:txBody>
          <a:bodyPr wrap="square" rtlCol="0">
            <a:spAutoFit/>
          </a:bodyPr>
          <a:lstStyle/>
          <a:p>
            <a:pPr algn="ctr"/>
            <a:r>
              <a:rPr lang="en-IN" dirty="0">
                <a:latin typeface="Arial Black" panose="020B0A04020102020204" pitchFamily="34" charset="0"/>
              </a:rPr>
              <a:t>Department Of Artificial intelligence and Machine Learning</a:t>
            </a:r>
          </a:p>
        </p:txBody>
      </p:sp>
      <p:sp>
        <p:nvSpPr>
          <p:cNvPr id="4" name="TextBox 3">
            <a:extLst>
              <a:ext uri="{FF2B5EF4-FFF2-40B4-BE49-F238E27FC236}">
                <a16:creationId xmlns="" xmlns:a16="http://schemas.microsoft.com/office/drawing/2014/main" id="{7609C6F4-9ECA-CB46-477F-B4A355232181}"/>
              </a:ext>
            </a:extLst>
          </p:cNvPr>
          <p:cNvSpPr txBox="1"/>
          <p:nvPr/>
        </p:nvSpPr>
        <p:spPr>
          <a:xfrm>
            <a:off x="668593" y="2724649"/>
            <a:ext cx="10854813" cy="646331"/>
          </a:xfrm>
          <a:prstGeom prst="rect">
            <a:avLst/>
          </a:prstGeom>
          <a:noFill/>
        </p:spPr>
        <p:txBody>
          <a:bodyPr wrap="square" rtlCol="0">
            <a:spAutoFit/>
          </a:bodyPr>
          <a:lstStyle/>
          <a:p>
            <a:r>
              <a:rPr lang="en-IN" dirty="0">
                <a:latin typeface="Arial Rounded MT Bold" panose="020F0704030504030204" pitchFamily="34" charset="0"/>
              </a:rPr>
              <a:t>Project </a:t>
            </a:r>
            <a:r>
              <a:rPr lang="en-IN" dirty="0" err="1" smtClean="0">
                <a:latin typeface="Arial Rounded MT Bold" panose="020F0704030504030204" pitchFamily="34" charset="0"/>
              </a:rPr>
              <a:t>Title:</a:t>
            </a:r>
            <a:r>
              <a:rPr lang="en-IN" dirty="0" err="1" smtClean="0">
                <a:latin typeface="Arial Black" pitchFamily="34" charset="0"/>
              </a:rPr>
              <a:t>Design</a:t>
            </a:r>
            <a:r>
              <a:rPr lang="en-IN" dirty="0" smtClean="0">
                <a:latin typeface="Arial Black" pitchFamily="34" charset="0"/>
              </a:rPr>
              <a:t> and implementation of sales trends through predictive </a:t>
            </a:r>
            <a:r>
              <a:rPr lang="en-IN" dirty="0" err="1" smtClean="0">
                <a:latin typeface="Arial Black" pitchFamily="34" charset="0"/>
              </a:rPr>
              <a:t>modeling</a:t>
            </a:r>
            <a:r>
              <a:rPr lang="en-IN" dirty="0" smtClean="0">
                <a:latin typeface="Arial Black" pitchFamily="34" charset="0"/>
              </a:rPr>
              <a:t> using simple linear regression</a:t>
            </a:r>
            <a:endParaRPr lang="en-IN" dirty="0">
              <a:latin typeface="Arial Black" pitchFamily="34" charset="0"/>
            </a:endParaRPr>
          </a:p>
        </p:txBody>
      </p:sp>
      <p:sp>
        <p:nvSpPr>
          <p:cNvPr id="5" name="TextBox 4">
            <a:extLst>
              <a:ext uri="{FF2B5EF4-FFF2-40B4-BE49-F238E27FC236}">
                <a16:creationId xmlns="" xmlns:a16="http://schemas.microsoft.com/office/drawing/2014/main" id="{22E1CCD5-0762-359C-1D22-0D41D2A4F47F}"/>
              </a:ext>
            </a:extLst>
          </p:cNvPr>
          <p:cNvSpPr txBox="1"/>
          <p:nvPr/>
        </p:nvSpPr>
        <p:spPr>
          <a:xfrm>
            <a:off x="687255" y="3260992"/>
            <a:ext cx="10658167" cy="869918"/>
          </a:xfrm>
          <a:prstGeom prst="rect">
            <a:avLst/>
          </a:prstGeom>
          <a:noFill/>
        </p:spPr>
        <p:txBody>
          <a:bodyPr wrap="square" rtlCol="0">
            <a:spAutoFit/>
          </a:bodyPr>
          <a:lstStyle/>
          <a:p>
            <a:pPr>
              <a:lnSpc>
                <a:spcPct val="150000"/>
              </a:lnSpc>
            </a:pPr>
            <a:r>
              <a:rPr lang="en-IN" dirty="0">
                <a:latin typeface="Arial Rounded MT Bold" panose="020F0704030504030204" pitchFamily="34" charset="0"/>
              </a:rPr>
              <a:t>Team </a:t>
            </a:r>
            <a:r>
              <a:rPr lang="en-IN" dirty="0" smtClean="0">
                <a:latin typeface="Arial Rounded MT Bold" panose="020F0704030504030204" pitchFamily="34" charset="0"/>
              </a:rPr>
              <a:t>No:14</a:t>
            </a:r>
            <a:br>
              <a:rPr lang="en-IN" dirty="0" smtClean="0">
                <a:latin typeface="Arial Rounded MT Bold" panose="020F0704030504030204" pitchFamily="34" charset="0"/>
              </a:rPr>
            </a:br>
            <a:r>
              <a:rPr lang="en-IN" dirty="0" smtClean="0">
                <a:latin typeface="Arial Rounded MT Bold" panose="020F0704030504030204" pitchFamily="34" charset="0"/>
              </a:rPr>
              <a:t>Review  No:3</a:t>
            </a:r>
            <a:endParaRPr lang="en-IN" dirty="0">
              <a:latin typeface="Arial Rounded MT Bold" panose="020F0704030504030204" pitchFamily="34" charset="0"/>
            </a:endParaRPr>
          </a:p>
        </p:txBody>
      </p:sp>
      <p:sp>
        <p:nvSpPr>
          <p:cNvPr id="6" name="TextBox 5">
            <a:extLst>
              <a:ext uri="{FF2B5EF4-FFF2-40B4-BE49-F238E27FC236}">
                <a16:creationId xmlns="" xmlns:a16="http://schemas.microsoft.com/office/drawing/2014/main" id="{3C962C87-C6E0-DA66-B175-E572FFD89452}"/>
              </a:ext>
            </a:extLst>
          </p:cNvPr>
          <p:cNvSpPr txBox="1"/>
          <p:nvPr/>
        </p:nvSpPr>
        <p:spPr>
          <a:xfrm>
            <a:off x="846578" y="4153359"/>
            <a:ext cx="9989574" cy="1200329"/>
          </a:xfrm>
          <a:prstGeom prst="rect">
            <a:avLst/>
          </a:prstGeom>
          <a:noFill/>
        </p:spPr>
        <p:txBody>
          <a:bodyPr wrap="square" rtlCol="0">
            <a:spAutoFit/>
          </a:bodyPr>
          <a:lstStyle/>
          <a:p>
            <a:pPr algn="ctr"/>
            <a:r>
              <a:rPr lang="en-IN" sz="2400" dirty="0" err="1" smtClean="0">
                <a:latin typeface="Bahnschrift" panose="020B0502040204020203" pitchFamily="34" charset="0"/>
              </a:rPr>
              <a:t>Y.Gopi</a:t>
            </a:r>
            <a:r>
              <a:rPr lang="en-IN" sz="2400" dirty="0" smtClean="0">
                <a:latin typeface="Bahnschrift" panose="020B0502040204020203" pitchFamily="34" charset="0"/>
              </a:rPr>
              <a:t> </a:t>
            </a:r>
            <a:r>
              <a:rPr lang="en-IN" sz="2400" dirty="0" err="1" smtClean="0">
                <a:latin typeface="Bahnschrift" panose="020B0502040204020203" pitchFamily="34" charset="0"/>
              </a:rPr>
              <a:t>vishal</a:t>
            </a:r>
            <a:r>
              <a:rPr lang="en-IN" sz="2400" dirty="0" smtClean="0">
                <a:latin typeface="Bahnschrift" panose="020B0502040204020203" pitchFamily="34" charset="0"/>
              </a:rPr>
              <a:t> –22A21A5451</a:t>
            </a:r>
            <a:endParaRPr lang="en-IN" sz="2400" dirty="0">
              <a:latin typeface="Bahnschrift" panose="020B0502040204020203" pitchFamily="34" charset="0"/>
            </a:endParaRPr>
          </a:p>
          <a:p>
            <a:pPr algn="ctr"/>
            <a:r>
              <a:rPr lang="en-IN" sz="2400" dirty="0" err="1" smtClean="0">
                <a:latin typeface="Bahnschrift" panose="020B0502040204020203" pitchFamily="34" charset="0"/>
              </a:rPr>
              <a:t>B.Anupama</a:t>
            </a:r>
            <a:r>
              <a:rPr lang="en-IN" sz="2400" dirty="0" smtClean="0">
                <a:latin typeface="Bahnschrift" panose="020B0502040204020203" pitchFamily="34" charset="0"/>
              </a:rPr>
              <a:t> </a:t>
            </a:r>
            <a:r>
              <a:rPr lang="en-IN" sz="2400" dirty="0">
                <a:latin typeface="Bahnschrift" panose="020B0502040204020203" pitchFamily="34" charset="0"/>
              </a:rPr>
              <a:t>– </a:t>
            </a:r>
            <a:r>
              <a:rPr lang="en-IN" sz="2400" dirty="0" smtClean="0">
                <a:latin typeface="Bahnschrift" panose="020B0502040204020203" pitchFamily="34" charset="0"/>
              </a:rPr>
              <a:t>22A21A5409</a:t>
            </a:r>
            <a:endParaRPr lang="en-IN" sz="2400" dirty="0">
              <a:latin typeface="Bahnschrift" panose="020B0502040204020203" pitchFamily="34" charset="0"/>
            </a:endParaRPr>
          </a:p>
          <a:p>
            <a:pPr algn="ctr"/>
            <a:r>
              <a:rPr lang="en-IN" sz="2400" dirty="0" err="1" smtClean="0">
                <a:latin typeface="Bahnschrift" panose="020B0502040204020203" pitchFamily="34" charset="0"/>
              </a:rPr>
              <a:t>B.Bhavani</a:t>
            </a:r>
            <a:r>
              <a:rPr lang="en-IN" sz="2400" dirty="0" smtClean="0">
                <a:latin typeface="Bahnschrift" panose="020B0502040204020203" pitchFamily="34" charset="0"/>
              </a:rPr>
              <a:t> </a:t>
            </a:r>
            <a:r>
              <a:rPr lang="en-IN" sz="2400" dirty="0">
                <a:latin typeface="Bahnschrift" panose="020B0502040204020203" pitchFamily="34" charset="0"/>
              </a:rPr>
              <a:t>– </a:t>
            </a:r>
            <a:r>
              <a:rPr lang="en-IN" sz="2400" dirty="0" smtClean="0">
                <a:latin typeface="Bahnschrift" panose="020B0502040204020203" pitchFamily="34" charset="0"/>
              </a:rPr>
              <a:t>22A21A5406</a:t>
            </a:r>
            <a:endParaRPr lang="en-IN" sz="2400" dirty="0">
              <a:latin typeface="Bahnschrift" panose="020B0502040204020203" pitchFamily="34" charset="0"/>
            </a:endParaRPr>
          </a:p>
        </p:txBody>
      </p:sp>
      <p:sp>
        <p:nvSpPr>
          <p:cNvPr id="7" name="TextBox 6">
            <a:extLst>
              <a:ext uri="{FF2B5EF4-FFF2-40B4-BE49-F238E27FC236}">
                <a16:creationId xmlns="" xmlns:a16="http://schemas.microsoft.com/office/drawing/2014/main" id="{8487F95D-191A-9EAD-50B3-A44DA9082260}"/>
              </a:ext>
            </a:extLst>
          </p:cNvPr>
          <p:cNvSpPr txBox="1"/>
          <p:nvPr/>
        </p:nvSpPr>
        <p:spPr>
          <a:xfrm>
            <a:off x="668593" y="5122606"/>
            <a:ext cx="4758813" cy="1200329"/>
          </a:xfrm>
          <a:prstGeom prst="rect">
            <a:avLst/>
          </a:prstGeom>
          <a:noFill/>
        </p:spPr>
        <p:txBody>
          <a:bodyPr wrap="square" rtlCol="0">
            <a:spAutoFit/>
          </a:bodyPr>
          <a:lstStyle/>
          <a:p>
            <a:r>
              <a:rPr lang="en-IN" dirty="0">
                <a:latin typeface="Arial Black" panose="020B0A04020102020204" pitchFamily="34" charset="0"/>
              </a:rPr>
              <a:t> </a:t>
            </a:r>
          </a:p>
          <a:p>
            <a:endParaRPr lang="en-IN" dirty="0">
              <a:latin typeface="Arial Black" panose="020B0A04020102020204" pitchFamily="34" charset="0"/>
            </a:endParaRPr>
          </a:p>
          <a:p>
            <a:endParaRPr lang="en-IN" dirty="0">
              <a:latin typeface="Arial Black" panose="020B0A04020102020204" pitchFamily="34" charset="0"/>
            </a:endParaRPr>
          </a:p>
          <a:p>
            <a:r>
              <a:rPr lang="en-IN" dirty="0">
                <a:latin typeface="Arial Black" panose="020B0A04020102020204" pitchFamily="34" charset="0"/>
              </a:rPr>
              <a:t>Project </a:t>
            </a:r>
            <a:r>
              <a:rPr lang="en-IN" dirty="0" smtClean="0">
                <a:latin typeface="Arial Black" panose="020B0A04020102020204" pitchFamily="34" charset="0"/>
              </a:rPr>
              <a:t>Guide: </a:t>
            </a:r>
            <a:r>
              <a:rPr lang="en-IN" dirty="0" err="1" smtClean="0">
                <a:latin typeface="Arial Black" panose="020B0A04020102020204" pitchFamily="34" charset="0"/>
              </a:rPr>
              <a:t>G.Lakshminarayana</a:t>
            </a:r>
            <a:endParaRPr lang="en-IN" dirty="0">
              <a:latin typeface="Arial Black" panose="020B0A04020102020204" pitchFamily="34" charset="0"/>
            </a:endParaRPr>
          </a:p>
        </p:txBody>
      </p:sp>
      <p:pic>
        <p:nvPicPr>
          <p:cNvPr id="12" name="Picture 11">
            <a:extLst>
              <a:ext uri="{FF2B5EF4-FFF2-40B4-BE49-F238E27FC236}">
                <a16:creationId xmlns="" xmlns:a16="http://schemas.microsoft.com/office/drawing/2014/main" id="{2CEAF411-FCAC-FBC1-CC16-2066922E303C}"/>
              </a:ext>
            </a:extLst>
          </p:cNvPr>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9259247" y="252138"/>
            <a:ext cx="1912938" cy="1688766"/>
          </a:xfrm>
          <a:prstGeom prst="rect">
            <a:avLst/>
          </a:prstGeom>
        </p:spPr>
      </p:pic>
    </p:spTree>
    <p:extLst>
      <p:ext uri="{BB962C8B-B14F-4D97-AF65-F5344CB8AC3E}">
        <p14:creationId xmlns="" xmlns:p14="http://schemas.microsoft.com/office/powerpoint/2010/main" val="175644757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046" y="365125"/>
            <a:ext cx="10670754" cy="1325563"/>
          </a:xfrm>
        </p:spPr>
        <p:txBody>
          <a:bodyPr>
            <a:normAutofit/>
          </a:bodyPr>
          <a:lstStyle/>
          <a:p>
            <a:r>
              <a:rPr lang="en-US" sz="2400" dirty="0" smtClean="0">
                <a:latin typeface="Arial Black" pitchFamily="34" charset="0"/>
              </a:rPr>
              <a:t>Problem statement</a:t>
            </a:r>
            <a:endParaRPr lang="en-US" sz="2400" dirty="0">
              <a:latin typeface="Arial Black" pitchFamily="34" charset="0"/>
            </a:endParaRPr>
          </a:p>
        </p:txBody>
      </p:sp>
      <p:sp>
        <p:nvSpPr>
          <p:cNvPr id="3" name="Content Placeholder 2"/>
          <p:cNvSpPr>
            <a:spLocks noGrp="1"/>
          </p:cNvSpPr>
          <p:nvPr>
            <p:ph idx="1"/>
          </p:nvPr>
        </p:nvSpPr>
        <p:spPr>
          <a:xfrm>
            <a:off x="760164" y="1509311"/>
            <a:ext cx="10593636" cy="4667652"/>
          </a:xfrm>
        </p:spPr>
        <p:txBody>
          <a:bodyPr>
            <a:normAutofit/>
          </a:bodyPr>
          <a:lstStyle/>
          <a:p>
            <a:r>
              <a:rPr lang="en-US" sz="2000" dirty="0" smtClean="0"/>
              <a:t>Accurate sales trend prediction is a critical challenge for businesses in dynamic and competitive markets. </a:t>
            </a:r>
          </a:p>
          <a:p>
            <a:r>
              <a:rPr lang="en-US" sz="2000" dirty="0" smtClean="0"/>
              <a:t>Most existing prediction systems rely only on historical numerical data and do not consider human behavior factors such as customer preferences, seasonal trends, and market demand variations. </a:t>
            </a:r>
          </a:p>
          <a:p>
            <a:r>
              <a:rPr lang="en-US" sz="2000" dirty="0" smtClean="0"/>
              <a:t>Therefore, there is a need to develop an intelligent system that integrates Simple Linear Regression with human behavior adjustments and an interactive interface to provide more accurate, reliable, and user-friendly sales trend predictions</a:t>
            </a:r>
            <a:r>
              <a:rPr lang="en-US" dirty="0" smtClean="0"/>
              <a:t>. </a:t>
            </a:r>
          </a:p>
          <a:p>
            <a:pPr>
              <a:buNone/>
            </a:pP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latin typeface="Arial Black" pitchFamily="34" charset="0"/>
              </a:rPr>
              <a:t>Objectives</a:t>
            </a:r>
            <a:endParaRPr lang="en-US" sz="2400" dirty="0">
              <a:latin typeface="Arial Black" pitchFamily="34" charset="0"/>
            </a:endParaRPr>
          </a:p>
        </p:txBody>
      </p:sp>
      <p:sp>
        <p:nvSpPr>
          <p:cNvPr id="3" name="Content Placeholder 2"/>
          <p:cNvSpPr>
            <a:spLocks noGrp="1"/>
          </p:cNvSpPr>
          <p:nvPr>
            <p:ph idx="1"/>
          </p:nvPr>
        </p:nvSpPr>
        <p:spPr>
          <a:xfrm>
            <a:off x="838200" y="1498294"/>
            <a:ext cx="10515600" cy="4678669"/>
          </a:xfrm>
        </p:spPr>
        <p:txBody>
          <a:bodyPr>
            <a:normAutofit/>
          </a:bodyPr>
          <a:lstStyle/>
          <a:p>
            <a:r>
              <a:rPr lang="en-US" sz="2000" dirty="0" smtClean="0"/>
              <a:t>To design a user-friendly interface for sales prediction. </a:t>
            </a:r>
          </a:p>
          <a:p>
            <a:r>
              <a:rPr lang="en-US" sz="2000" dirty="0" smtClean="0"/>
              <a:t>To integrate human behavior into the prediction model. </a:t>
            </a:r>
          </a:p>
          <a:p>
            <a:r>
              <a:rPr lang="en-US" sz="2000" dirty="0" smtClean="0"/>
              <a:t>To implement Simple Linear Regression. </a:t>
            </a:r>
          </a:p>
          <a:p>
            <a:r>
              <a:rPr lang="en-US" sz="2000" dirty="0" smtClean="0"/>
              <a:t>To provide visual outputs for better understanding. </a:t>
            </a:r>
          </a:p>
          <a:p>
            <a:endParaRPr lang="en-US" sz="2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latin typeface="Arial Black" pitchFamily="34" charset="0"/>
              </a:rPr>
              <a:t>Existing system &amp; limitations</a:t>
            </a:r>
            <a:endParaRPr lang="en-US" sz="2400" dirty="0">
              <a:latin typeface="Arial Black" pitchFamily="34" charset="0"/>
            </a:endParaRPr>
          </a:p>
        </p:txBody>
      </p:sp>
      <p:sp>
        <p:nvSpPr>
          <p:cNvPr id="3" name="Content Placeholder 2"/>
          <p:cNvSpPr>
            <a:spLocks noGrp="1"/>
          </p:cNvSpPr>
          <p:nvPr>
            <p:ph idx="1"/>
          </p:nvPr>
        </p:nvSpPr>
        <p:spPr>
          <a:xfrm>
            <a:off x="936434" y="1531345"/>
            <a:ext cx="10968209" cy="4689685"/>
          </a:xfrm>
        </p:spPr>
        <p:txBody>
          <a:bodyPr>
            <a:normAutofit/>
          </a:bodyPr>
          <a:lstStyle/>
          <a:p>
            <a:r>
              <a:rPr lang="en-US" sz="2000" dirty="0" smtClean="0"/>
              <a:t>Sales analysis is mostly done using historical data and basic statistical methods. </a:t>
            </a:r>
          </a:p>
          <a:p>
            <a:r>
              <a:rPr lang="en-US" sz="2000" dirty="0" smtClean="0"/>
              <a:t>Traditional systems use spreadsheets or simple tools for prediction. </a:t>
            </a:r>
          </a:p>
          <a:p>
            <a:r>
              <a:rPr lang="en-US" sz="2000" dirty="0" smtClean="0"/>
              <a:t>Predictions are based only on past sales trends without advanced modeling. </a:t>
            </a:r>
          </a:p>
          <a:p>
            <a:r>
              <a:rPr lang="en-US" sz="2000" dirty="0" smtClean="0"/>
              <a:t>Limited or no use of machine learning techniques. </a:t>
            </a:r>
          </a:p>
          <a:p>
            <a:r>
              <a:rPr lang="en-US" sz="2000" dirty="0" smtClean="0"/>
              <a:t>Many systems do not provide a proper user interface for easy interaction. </a:t>
            </a:r>
          </a:p>
          <a:p>
            <a:endParaRPr lang="en-US" sz="2000" dirty="0" smtClean="0"/>
          </a:p>
          <a:p>
            <a:pPr>
              <a:buNone/>
            </a:pPr>
            <a:r>
              <a:rPr lang="en-US" sz="2400" dirty="0" smtClean="0">
                <a:latin typeface="Arial Black" pitchFamily="34" charset="0"/>
              </a:rPr>
              <a:t>Limitations</a:t>
            </a:r>
          </a:p>
          <a:p>
            <a:r>
              <a:rPr lang="en-US" sz="2000" dirty="0" smtClean="0"/>
              <a:t>Does not consider human behavior factors like demand changes, seasonality, and customer preferences. </a:t>
            </a:r>
          </a:p>
          <a:p>
            <a:r>
              <a:rPr lang="en-US" sz="2000" dirty="0" smtClean="0"/>
              <a:t>Produces less accurate predictions. </a:t>
            </a:r>
          </a:p>
          <a:p>
            <a:r>
              <a:rPr lang="en-US" sz="2000" dirty="0" smtClean="0"/>
              <a:t>Lack of real-time analysis and adaptability</a:t>
            </a:r>
            <a:r>
              <a:rPr lang="en-US" sz="2400" dirty="0" smtClean="0"/>
              <a:t>. </a:t>
            </a:r>
          </a:p>
          <a:p>
            <a:pPr>
              <a:buNone/>
            </a:pPr>
            <a:endParaRPr lang="en-US" sz="2400" dirty="0" smtClean="0"/>
          </a:p>
          <a:p>
            <a:endParaRPr lang="en-US" sz="2400" dirty="0">
              <a:latin typeface="Arial Black"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67068"/>
          </a:xfrm>
        </p:spPr>
        <p:txBody>
          <a:bodyPr>
            <a:normAutofit/>
          </a:bodyPr>
          <a:lstStyle/>
          <a:p>
            <a:r>
              <a:rPr lang="en-US" sz="2400" dirty="0" smtClean="0">
                <a:latin typeface="Arial Black" pitchFamily="34" charset="0"/>
              </a:rPr>
              <a:t>Proposed system</a:t>
            </a:r>
            <a:endParaRPr lang="en-US" sz="2400" dirty="0">
              <a:latin typeface="Arial Black" pitchFamily="34" charset="0"/>
            </a:endParaRPr>
          </a:p>
        </p:txBody>
      </p:sp>
      <p:sp>
        <p:nvSpPr>
          <p:cNvPr id="3" name="Content Placeholder 2"/>
          <p:cNvSpPr>
            <a:spLocks noGrp="1"/>
          </p:cNvSpPr>
          <p:nvPr>
            <p:ph idx="1"/>
          </p:nvPr>
        </p:nvSpPr>
        <p:spPr>
          <a:xfrm>
            <a:off x="838200" y="1233889"/>
            <a:ext cx="10515600" cy="4943074"/>
          </a:xfrm>
        </p:spPr>
        <p:txBody>
          <a:bodyPr>
            <a:normAutofit/>
          </a:bodyPr>
          <a:lstStyle/>
          <a:p>
            <a:r>
              <a:rPr lang="en-US" sz="2000" dirty="0" smtClean="0"/>
              <a:t>The proposed system uses Simple Linear Regression to predict future sales trends. </a:t>
            </a:r>
          </a:p>
          <a:p>
            <a:r>
              <a:rPr lang="en-US" sz="2000" dirty="0" smtClean="0"/>
              <a:t>It integrates human behavior factors such as demand variation, seasonality, and customer preferences. </a:t>
            </a:r>
          </a:p>
          <a:p>
            <a:r>
              <a:rPr lang="en-US" sz="2000" dirty="0" smtClean="0"/>
              <a:t>A user-friendly interface is designed for easy data input and result visualization. </a:t>
            </a:r>
          </a:p>
          <a:p>
            <a:r>
              <a:rPr lang="en-US" sz="2000" dirty="0" smtClean="0"/>
              <a:t>The system performs data preprocessing, model training, and prediction automatically. </a:t>
            </a:r>
          </a:p>
          <a:p>
            <a:endParaRPr lang="en-US" sz="2000" dirty="0" smtClean="0"/>
          </a:p>
          <a:p>
            <a:pPr>
              <a:buNone/>
            </a:pPr>
            <a:r>
              <a:rPr lang="en-US" sz="2400" dirty="0" smtClean="0">
                <a:latin typeface="Arial Black" pitchFamily="34" charset="0"/>
              </a:rPr>
              <a:t>Advantages of Proposed System</a:t>
            </a:r>
          </a:p>
          <a:p>
            <a:r>
              <a:rPr lang="en-US" sz="2000" dirty="0" smtClean="0"/>
              <a:t>Improves prediction accuracy by including behavior factors. </a:t>
            </a:r>
          </a:p>
          <a:p>
            <a:r>
              <a:rPr lang="en-US" sz="2000" dirty="0" smtClean="0"/>
              <a:t>Provides an interactive and easy-to-use interface. </a:t>
            </a:r>
          </a:p>
          <a:p>
            <a:r>
              <a:rPr lang="en-US" sz="2000" dirty="0" smtClean="0"/>
              <a:t>Reduces manual effort and human errors. </a:t>
            </a:r>
          </a:p>
          <a:p>
            <a:r>
              <a:rPr lang="en-US" sz="2000" dirty="0" smtClean="0"/>
              <a:t>Helps in better business decision-making and planning.</a:t>
            </a:r>
          </a:p>
          <a:p>
            <a:endParaRPr lang="en-US" sz="2400" dirty="0" smtClean="0">
              <a:latin typeface="Arial Black"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latin typeface="Arial Black" pitchFamily="34" charset="0"/>
              </a:rPr>
              <a:t>System architecture</a:t>
            </a:r>
            <a:endParaRPr lang="en-US" sz="2400" dirty="0">
              <a:latin typeface="Arial Black" pitchFamily="34" charset="0"/>
            </a:endParaRPr>
          </a:p>
        </p:txBody>
      </p:sp>
      <p:pic>
        <p:nvPicPr>
          <p:cNvPr id="1026" name="Picture 2"/>
          <p:cNvPicPr>
            <a:picLocks noGrp="1" noChangeAspect="1" noChangeArrowheads="1"/>
          </p:cNvPicPr>
          <p:nvPr>
            <p:ph idx="1"/>
          </p:nvPr>
        </p:nvPicPr>
        <p:blipFill>
          <a:blip r:embed="rId2"/>
          <a:srcRect/>
          <a:stretch>
            <a:fillRect/>
          </a:stretch>
        </p:blipFill>
        <p:spPr bwMode="auto">
          <a:xfrm>
            <a:off x="3554963" y="1156996"/>
            <a:ext cx="4786604" cy="507595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latin typeface="Arial Black" pitchFamily="34" charset="0"/>
              </a:rPr>
              <a:t>Technology Stack</a:t>
            </a:r>
            <a:endParaRPr lang="en-US" sz="2400" dirty="0">
              <a:latin typeface="Arial Black" pitchFamily="34" charset="0"/>
            </a:endParaRPr>
          </a:p>
        </p:txBody>
      </p:sp>
      <p:sp>
        <p:nvSpPr>
          <p:cNvPr id="3" name="Content Placeholder 2"/>
          <p:cNvSpPr>
            <a:spLocks noGrp="1"/>
          </p:cNvSpPr>
          <p:nvPr>
            <p:ph idx="1"/>
          </p:nvPr>
        </p:nvSpPr>
        <p:spPr>
          <a:xfrm>
            <a:off x="838200" y="1399142"/>
            <a:ext cx="10515600" cy="4777821"/>
          </a:xfrm>
        </p:spPr>
        <p:txBody>
          <a:bodyPr>
            <a:normAutofit/>
          </a:bodyPr>
          <a:lstStyle/>
          <a:p>
            <a:r>
              <a:rPr lang="en-US" sz="2000" dirty="0" smtClean="0"/>
              <a:t>Python</a:t>
            </a:r>
          </a:p>
          <a:p>
            <a:r>
              <a:rPr lang="en-US" sz="2000" dirty="0" smtClean="0"/>
              <a:t> Libraries: Pandas, NumPy, Matplotlib, Scikit-learn</a:t>
            </a:r>
          </a:p>
          <a:p>
            <a:r>
              <a:rPr lang="en-US" sz="2000" dirty="0" smtClean="0"/>
              <a:t> Interface: Flask</a:t>
            </a:r>
          </a:p>
          <a:p>
            <a:r>
              <a:rPr lang="en-US" sz="2000" dirty="0" smtClean="0"/>
              <a:t>Dataset: CSV / Excel</a:t>
            </a:r>
            <a:endParaRPr lang="en-US" sz="20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53440" y="569167"/>
            <a:ext cx="6937621" cy="461665"/>
          </a:xfrm>
          <a:prstGeom prst="rect">
            <a:avLst/>
          </a:prstGeom>
          <a:noFill/>
        </p:spPr>
        <p:txBody>
          <a:bodyPr wrap="square" rtlCol="0">
            <a:spAutoFit/>
          </a:bodyPr>
          <a:lstStyle/>
          <a:p>
            <a:r>
              <a:rPr lang="en-IN" sz="2400" dirty="0" smtClean="0">
                <a:latin typeface="Arial Black" pitchFamily="34" charset="0"/>
              </a:rPr>
              <a:t>Use case diagram</a:t>
            </a:r>
            <a:endParaRPr lang="en-US" sz="2400" dirty="0">
              <a:latin typeface="Arial Black" pitchFamily="34" charset="0"/>
            </a:endParaRPr>
          </a:p>
        </p:txBody>
      </p:sp>
      <p:pic>
        <p:nvPicPr>
          <p:cNvPr id="4" name="Picture 3" descr="Human Behaviour Sales System diagram.png"/>
          <p:cNvPicPr>
            <a:picLocks noChangeAspect="1"/>
          </p:cNvPicPr>
          <p:nvPr/>
        </p:nvPicPr>
        <p:blipFill>
          <a:blip r:embed="rId2"/>
          <a:stretch>
            <a:fillRect/>
          </a:stretch>
        </p:blipFill>
        <p:spPr>
          <a:xfrm>
            <a:off x="2265680" y="1259840"/>
            <a:ext cx="8188960" cy="475488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400" dirty="0" smtClean="0">
                <a:latin typeface="Arial Black" pitchFamily="34" charset="0"/>
              </a:rPr>
              <a:t>Class diagram</a:t>
            </a:r>
            <a:endParaRPr lang="en-US" sz="2400" dirty="0">
              <a:latin typeface="Arial Black" pitchFamily="34" charset="0"/>
            </a:endParaRPr>
          </a:p>
        </p:txBody>
      </p:sp>
      <p:pic>
        <p:nvPicPr>
          <p:cNvPr id="4" name="Content Placeholder 3" descr="UML diagram of Human Behaviour Sales System.png"/>
          <p:cNvPicPr>
            <a:picLocks noGrp="1" noChangeAspect="1"/>
          </p:cNvPicPr>
          <p:nvPr>
            <p:ph idx="1"/>
          </p:nvPr>
        </p:nvPicPr>
        <p:blipFill>
          <a:blip r:embed="rId2"/>
          <a:stretch>
            <a:fillRect/>
          </a:stretch>
        </p:blipFill>
        <p:spPr>
          <a:xfrm>
            <a:off x="2832496" y="1198880"/>
            <a:ext cx="6527007" cy="4998403"/>
          </a:xfr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400" dirty="0" smtClean="0">
                <a:latin typeface="Arial Black" pitchFamily="34" charset="0"/>
              </a:rPr>
              <a:t>ER diagram</a:t>
            </a:r>
            <a:endParaRPr lang="en-US" sz="2400" dirty="0">
              <a:latin typeface="Arial Black" pitchFamily="34" charset="0"/>
            </a:endParaRPr>
          </a:p>
        </p:txBody>
      </p:sp>
      <p:pic>
        <p:nvPicPr>
          <p:cNvPr id="4" name="Content Placeholder 3" descr="Sales prediction ER diagram.png"/>
          <p:cNvPicPr>
            <a:picLocks noGrp="1" noChangeAspect="1"/>
          </p:cNvPicPr>
          <p:nvPr>
            <p:ph idx="1"/>
          </p:nvPr>
        </p:nvPicPr>
        <p:blipFill>
          <a:blip r:embed="rId2"/>
          <a:stretch>
            <a:fillRect/>
          </a:stretch>
        </p:blipFill>
        <p:spPr>
          <a:xfrm>
            <a:off x="2712720" y="1239520"/>
            <a:ext cx="7223760" cy="4765040"/>
          </a:xfr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3201"/>
            <a:ext cx="10515600" cy="924559"/>
          </a:xfrm>
        </p:spPr>
        <p:txBody>
          <a:bodyPr>
            <a:normAutofit/>
          </a:bodyPr>
          <a:lstStyle/>
          <a:p>
            <a:r>
              <a:rPr lang="en-US" sz="2400" dirty="0" smtClean="0">
                <a:latin typeface="Arial Black" pitchFamily="34" charset="0"/>
              </a:rPr>
              <a:t>System Workflow </a:t>
            </a:r>
            <a:endParaRPr lang="en-US" sz="2400" dirty="0">
              <a:latin typeface="Arial Black" pitchFamily="34" charset="0"/>
            </a:endParaRPr>
          </a:p>
        </p:txBody>
      </p:sp>
      <p:pic>
        <p:nvPicPr>
          <p:cNvPr id="1027" name="Picture 3"/>
          <p:cNvPicPr>
            <a:picLocks noGrp="1" noChangeAspect="1" noChangeArrowheads="1"/>
          </p:cNvPicPr>
          <p:nvPr>
            <p:ph idx="1"/>
          </p:nvPr>
        </p:nvPicPr>
        <p:blipFill>
          <a:blip r:embed="rId2"/>
          <a:srcRect/>
          <a:stretch>
            <a:fillRect/>
          </a:stretch>
        </p:blipFill>
        <p:spPr bwMode="auto">
          <a:xfrm>
            <a:off x="2641600" y="853440"/>
            <a:ext cx="7467600" cy="57505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2400" dirty="0" smtClean="0">
                <a:latin typeface="Arial Black" pitchFamily="34" charset="0"/>
              </a:rPr>
              <a:t>Dataset description</a:t>
            </a:r>
            <a:endParaRPr lang="en-US" sz="2400" dirty="0">
              <a:latin typeface="Arial Black" pitchFamily="34" charset="0"/>
            </a:endParaRPr>
          </a:p>
        </p:txBody>
      </p:sp>
      <p:sp>
        <p:nvSpPr>
          <p:cNvPr id="4" name="Content Placeholder 3"/>
          <p:cNvSpPr>
            <a:spLocks noGrp="1"/>
          </p:cNvSpPr>
          <p:nvPr>
            <p:ph idx="1"/>
          </p:nvPr>
        </p:nvSpPr>
        <p:spPr>
          <a:xfrm>
            <a:off x="838200" y="1452880"/>
            <a:ext cx="10515600" cy="4724083"/>
          </a:xfrm>
        </p:spPr>
        <p:txBody>
          <a:bodyPr>
            <a:normAutofit/>
          </a:bodyPr>
          <a:lstStyle/>
          <a:p>
            <a:r>
              <a:rPr lang="en-US" sz="2000" dirty="0" smtClean="0"/>
              <a:t>The dataset is designed for the project “Human </a:t>
            </a:r>
            <a:r>
              <a:rPr lang="en-US" sz="2000" dirty="0" err="1" smtClean="0"/>
              <a:t>Behaviour</a:t>
            </a:r>
            <a:r>
              <a:rPr lang="en-US" sz="2000" dirty="0" smtClean="0"/>
              <a:t> Adjusted Sales Trends Model.” </a:t>
            </a:r>
          </a:p>
          <a:p>
            <a:r>
              <a:rPr lang="en-US" sz="2000" dirty="0" smtClean="0"/>
              <a:t>It contains sales-related data along with human behavioral factors that influence purchasing patterns. </a:t>
            </a:r>
          </a:p>
          <a:p>
            <a:r>
              <a:rPr lang="en-US" sz="2000" dirty="0" smtClean="0"/>
              <a:t>The </a:t>
            </a:r>
            <a:r>
              <a:rPr lang="en-US" sz="2000" dirty="0" smtClean="0"/>
              <a:t>dataset </a:t>
            </a:r>
            <a:r>
              <a:rPr lang="en-US" sz="2000" dirty="0" smtClean="0"/>
              <a:t>is used to analyze and predict future sales trends. </a:t>
            </a:r>
            <a:endParaRPr lang="en-US" sz="2000" dirty="0" smtClean="0"/>
          </a:p>
          <a:p>
            <a:r>
              <a:rPr lang="en-US" sz="2000" dirty="0" smtClean="0"/>
              <a:t>Festival_Intensity – Level of festival impact (No Festival / Low / Medium / High) </a:t>
            </a:r>
          </a:p>
          <a:p>
            <a:r>
              <a:rPr lang="en-US" sz="2000" dirty="0" smtClean="0"/>
              <a:t>Salary_Effect – Customer purchasing power (Low / Medium / High) </a:t>
            </a:r>
          </a:p>
          <a:p>
            <a:r>
              <a:rPr lang="en-US" sz="2000" dirty="0" smtClean="0"/>
              <a:t>Weekend_Type – Weekday or Weekend </a:t>
            </a:r>
          </a:p>
          <a:p>
            <a:r>
              <a:rPr lang="en-US" sz="2000" dirty="0" smtClean="0"/>
              <a:t>Local_Event – Indicates presence of events (Yes / No</a:t>
            </a:r>
            <a:r>
              <a:rPr lang="en-US" sz="2000" dirty="0" smtClean="0"/>
              <a:t>)</a:t>
            </a:r>
            <a:endParaRPr lang="en-US" sz="2000"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latin typeface="Arial Black" pitchFamily="34" charset="0"/>
              </a:rPr>
              <a:t>Methodology / Model Used</a:t>
            </a:r>
            <a:br>
              <a:rPr lang="en-US" sz="2400" dirty="0" smtClean="0">
                <a:latin typeface="Arial Black" pitchFamily="34" charset="0"/>
              </a:rPr>
            </a:br>
            <a:endParaRPr lang="en-US" sz="2400" dirty="0">
              <a:latin typeface="Arial Black" pitchFamily="34" charset="0"/>
            </a:endParaRPr>
          </a:p>
        </p:txBody>
      </p:sp>
      <p:sp>
        <p:nvSpPr>
          <p:cNvPr id="3" name="Content Placeholder 2"/>
          <p:cNvSpPr>
            <a:spLocks noGrp="1"/>
          </p:cNvSpPr>
          <p:nvPr>
            <p:ph idx="1"/>
          </p:nvPr>
        </p:nvSpPr>
        <p:spPr>
          <a:xfrm>
            <a:off x="838200" y="1255923"/>
            <a:ext cx="10515600" cy="4921040"/>
          </a:xfrm>
        </p:spPr>
        <p:txBody>
          <a:bodyPr>
            <a:normAutofit/>
          </a:bodyPr>
          <a:lstStyle/>
          <a:p>
            <a:r>
              <a:rPr lang="en-US" sz="2000" b="1" dirty="0" smtClean="0"/>
              <a:t>Data Collection</a:t>
            </a:r>
            <a:r>
              <a:rPr lang="en-US" sz="2000" dirty="0" smtClean="0"/>
              <a:t> </a:t>
            </a:r>
          </a:p>
          <a:p>
            <a:pPr lvl="1"/>
            <a:r>
              <a:rPr lang="en-US" sz="2000" dirty="0" smtClean="0"/>
              <a:t>Gather sales data and human </a:t>
            </a:r>
            <a:r>
              <a:rPr lang="en-US" sz="2000" dirty="0" err="1" smtClean="0"/>
              <a:t>behaviour</a:t>
            </a:r>
            <a:r>
              <a:rPr lang="en-US" sz="2000" dirty="0" smtClean="0"/>
              <a:t> factors </a:t>
            </a:r>
          </a:p>
          <a:p>
            <a:r>
              <a:rPr lang="en-US" sz="2000" b="1" dirty="0" smtClean="0"/>
              <a:t>Data Preprocessing</a:t>
            </a:r>
            <a:r>
              <a:rPr lang="en-US" sz="2000" dirty="0" smtClean="0"/>
              <a:t> </a:t>
            </a:r>
          </a:p>
          <a:p>
            <a:pPr lvl="1"/>
            <a:r>
              <a:rPr lang="en-US" sz="2000" dirty="0" smtClean="0"/>
              <a:t>Clean data and convert categorical values </a:t>
            </a:r>
          </a:p>
          <a:p>
            <a:r>
              <a:rPr lang="en-US" sz="2000" b="1" dirty="0" smtClean="0"/>
              <a:t>Feature Selection</a:t>
            </a:r>
            <a:r>
              <a:rPr lang="en-US" sz="2000" dirty="0" smtClean="0"/>
              <a:t> </a:t>
            </a:r>
          </a:p>
          <a:p>
            <a:pPr lvl="1"/>
            <a:r>
              <a:rPr lang="en-US" sz="2000" dirty="0" smtClean="0"/>
              <a:t>Select key inputs (festival, salary, weekend, events) </a:t>
            </a:r>
          </a:p>
          <a:p>
            <a:r>
              <a:rPr lang="en-US" sz="2000" b="1" dirty="0" smtClean="0"/>
              <a:t>Model Training</a:t>
            </a:r>
            <a:r>
              <a:rPr lang="en-US" sz="2000" dirty="0" smtClean="0"/>
              <a:t> </a:t>
            </a:r>
          </a:p>
          <a:p>
            <a:pPr lvl="1"/>
            <a:r>
              <a:rPr lang="en-US" sz="2000" dirty="0" smtClean="0"/>
              <a:t>Use Linear Regression to learn patterns </a:t>
            </a:r>
          </a:p>
          <a:p>
            <a:r>
              <a:rPr lang="en-US" sz="2000" b="1" dirty="0" smtClean="0"/>
              <a:t>Prediction</a:t>
            </a:r>
            <a:r>
              <a:rPr lang="en-US" sz="2000" dirty="0" smtClean="0"/>
              <a:t> </a:t>
            </a:r>
          </a:p>
          <a:p>
            <a:pPr lvl="1"/>
            <a:r>
              <a:rPr lang="en-US" sz="2000" dirty="0" smtClean="0"/>
              <a:t>Generate predicted sales based on user inputs </a:t>
            </a:r>
          </a:p>
          <a:p>
            <a:r>
              <a:rPr lang="en-US" sz="2000" b="1" dirty="0" smtClean="0"/>
              <a:t>Interface</a:t>
            </a:r>
            <a:r>
              <a:rPr lang="en-US" sz="2000" dirty="0" smtClean="0"/>
              <a:t> </a:t>
            </a:r>
          </a:p>
          <a:p>
            <a:pPr lvl="1"/>
            <a:r>
              <a:rPr lang="en-US" sz="2000" dirty="0" smtClean="0"/>
              <a:t>Display output using web interface (Flask) </a:t>
            </a:r>
          </a:p>
          <a:p>
            <a:endParaRPr lang="en-US" sz="20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73).png"/>
          <p:cNvPicPr>
            <a:picLocks noChangeAspect="1"/>
          </p:cNvPicPr>
          <p:nvPr/>
        </p:nvPicPr>
        <p:blipFill>
          <a:blip r:embed="rId2"/>
          <a:stretch>
            <a:fillRect/>
          </a:stretch>
        </p:blipFill>
        <p:spPr>
          <a:xfrm>
            <a:off x="2170323" y="892365"/>
            <a:ext cx="8146383" cy="4307596"/>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 (74).png"/>
          <p:cNvPicPr>
            <a:picLocks noChangeAspect="1"/>
          </p:cNvPicPr>
          <p:nvPr/>
        </p:nvPicPr>
        <p:blipFill>
          <a:blip r:embed="rId2"/>
          <a:stretch>
            <a:fillRect/>
          </a:stretch>
        </p:blipFill>
        <p:spPr>
          <a:xfrm>
            <a:off x="2093205" y="947451"/>
            <a:ext cx="7965196" cy="4208443"/>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2400" dirty="0" smtClean="0">
                <a:latin typeface="Arial Black" pitchFamily="34" charset="0"/>
              </a:rPr>
              <a:t>Output Results</a:t>
            </a:r>
            <a:br>
              <a:rPr lang="en-US" sz="2400" dirty="0" smtClean="0">
                <a:latin typeface="Arial Black" pitchFamily="34" charset="0"/>
              </a:rPr>
            </a:br>
            <a:endParaRPr lang="en-US" sz="2400" dirty="0">
              <a:latin typeface="Arial Black" pitchFamily="34" charset="0"/>
            </a:endParaRPr>
          </a:p>
        </p:txBody>
      </p:sp>
      <p:sp>
        <p:nvSpPr>
          <p:cNvPr id="4" name="Content Placeholder 3"/>
          <p:cNvSpPr>
            <a:spLocks noGrp="1"/>
          </p:cNvSpPr>
          <p:nvPr>
            <p:ph idx="1"/>
          </p:nvPr>
        </p:nvSpPr>
        <p:spPr>
          <a:xfrm>
            <a:off x="949960" y="1195705"/>
            <a:ext cx="10515600" cy="4351338"/>
          </a:xfrm>
        </p:spPr>
        <p:txBody>
          <a:bodyPr>
            <a:normAutofit/>
          </a:bodyPr>
          <a:lstStyle/>
          <a:p>
            <a:r>
              <a:rPr lang="en-US" sz="2000" dirty="0" smtClean="0"/>
              <a:t>The system takes sales data and human behavior inputs from the user. It processes the data and generates adjusted sales results based on factors like </a:t>
            </a:r>
            <a:r>
              <a:rPr lang="en-US" sz="2000" dirty="0" err="1" smtClean="0"/>
              <a:t>festival,weekend,local</a:t>
            </a:r>
            <a:r>
              <a:rPr lang="en-US" sz="2000" dirty="0" smtClean="0"/>
              <a:t> </a:t>
            </a:r>
            <a:r>
              <a:rPr lang="en-US" sz="2000" dirty="0" err="1" smtClean="0"/>
              <a:t>event,salary</a:t>
            </a:r>
            <a:r>
              <a:rPr lang="en-US" sz="2000" dirty="0" smtClean="0"/>
              <a:t>.</a:t>
            </a:r>
            <a:endParaRPr lang="en-US" sz="2000" dirty="0" smtClean="0"/>
          </a:p>
          <a:p>
            <a:r>
              <a:rPr lang="en-US" sz="2000" dirty="0" smtClean="0"/>
              <a:t>The output shows both original and modified sales values, helping users understand the impact of human behavior on sales.</a:t>
            </a:r>
          </a:p>
          <a:p>
            <a:r>
              <a:rPr lang="en-US" sz="2000" dirty="0" smtClean="0"/>
              <a:t>It also gives simple suggestions for better decision-making. The system provides results quickly and is easy to use.</a:t>
            </a:r>
          </a:p>
          <a:p>
            <a:endParaRPr lang="en-US" sz="20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latin typeface="Arial Black" pitchFamily="34" charset="0"/>
              </a:rPr>
              <a:t>Performance Analysis / Evaluation</a:t>
            </a:r>
            <a:br>
              <a:rPr lang="en-US" sz="2400" dirty="0" smtClean="0">
                <a:latin typeface="Arial Black" pitchFamily="34" charset="0"/>
              </a:rPr>
            </a:br>
            <a:endParaRPr lang="en-US" sz="2400" dirty="0">
              <a:latin typeface="Arial Black" pitchFamily="34" charset="0"/>
            </a:endParaRPr>
          </a:p>
        </p:txBody>
      </p:sp>
      <p:sp>
        <p:nvSpPr>
          <p:cNvPr id="3" name="Content Placeholder 2"/>
          <p:cNvSpPr>
            <a:spLocks noGrp="1"/>
          </p:cNvSpPr>
          <p:nvPr>
            <p:ph idx="1"/>
          </p:nvPr>
        </p:nvSpPr>
        <p:spPr>
          <a:xfrm>
            <a:off x="838200" y="1311007"/>
            <a:ext cx="10515600" cy="4865956"/>
          </a:xfrm>
        </p:spPr>
        <p:txBody>
          <a:bodyPr/>
          <a:lstStyle/>
          <a:p>
            <a:r>
              <a:rPr lang="en-US" sz="2000" dirty="0" smtClean="0"/>
              <a:t>Model performance is evaluated using MAE, MSE, RMSE, and R² Score </a:t>
            </a:r>
          </a:p>
          <a:p>
            <a:r>
              <a:rPr lang="en-US" sz="2000" dirty="0" smtClean="0"/>
              <a:t>Comparison between Basic Regression and Behavior-Adjusted Model </a:t>
            </a:r>
          </a:p>
          <a:p>
            <a:r>
              <a:rPr lang="en-US" sz="2000" dirty="0" smtClean="0"/>
              <a:t>Behavior-based model shows lower error and higher accuracy </a:t>
            </a:r>
          </a:p>
          <a:p>
            <a:r>
              <a:rPr lang="en-US" sz="2000" dirty="0" smtClean="0"/>
              <a:t>Provides better prediction during seasonal and demand changes </a:t>
            </a:r>
          </a:p>
          <a:p>
            <a:r>
              <a:rPr lang="en-US" sz="2000" dirty="0" smtClean="0"/>
              <a:t>System is efficient, fast, and reliable </a:t>
            </a:r>
          </a:p>
          <a:p>
            <a:endParaRPr lang="en-US" sz="2000" dirty="0" smtClean="0"/>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latin typeface="Arial Black" pitchFamily="34" charset="0"/>
              </a:rPr>
              <a:t>Future Enhancements</a:t>
            </a:r>
            <a:br>
              <a:rPr lang="en-US" sz="2400" dirty="0" smtClean="0">
                <a:latin typeface="Arial Black" pitchFamily="34" charset="0"/>
              </a:rPr>
            </a:br>
            <a:endParaRPr lang="en-US" sz="2400" dirty="0">
              <a:latin typeface="Arial Black" pitchFamily="34" charset="0"/>
            </a:endParaRPr>
          </a:p>
        </p:txBody>
      </p:sp>
      <p:sp>
        <p:nvSpPr>
          <p:cNvPr id="3" name="Content Placeholder 2"/>
          <p:cNvSpPr>
            <a:spLocks noGrp="1"/>
          </p:cNvSpPr>
          <p:nvPr>
            <p:ph idx="1"/>
          </p:nvPr>
        </p:nvSpPr>
        <p:spPr>
          <a:xfrm>
            <a:off x="838200" y="1255923"/>
            <a:ext cx="10515600" cy="4921040"/>
          </a:xfrm>
        </p:spPr>
        <p:txBody>
          <a:bodyPr>
            <a:normAutofit/>
          </a:bodyPr>
          <a:lstStyle/>
          <a:p>
            <a:r>
              <a:rPr lang="en-US" sz="2000" dirty="0" smtClean="0"/>
              <a:t>Implement advanced models like Multiple Linear Regression and Machine Learning algorithms </a:t>
            </a:r>
          </a:p>
          <a:p>
            <a:r>
              <a:rPr lang="en-US" sz="2000" dirty="0" smtClean="0"/>
              <a:t>Integrate real-time data for more accurate predictions </a:t>
            </a:r>
          </a:p>
          <a:p>
            <a:r>
              <a:rPr lang="en-US" sz="2000" dirty="0" smtClean="0"/>
              <a:t>Add more human behavior factors (social trends, customer feedback) </a:t>
            </a:r>
          </a:p>
          <a:p>
            <a:r>
              <a:rPr lang="en-US" sz="2000" dirty="0" smtClean="0"/>
              <a:t>Develop a web/mobile-based user interface </a:t>
            </a:r>
          </a:p>
          <a:p>
            <a:r>
              <a:rPr lang="en-US" sz="2000" dirty="0" smtClean="0"/>
              <a:t>Improve data visualization dashboards </a:t>
            </a:r>
          </a:p>
          <a:p>
            <a:r>
              <a:rPr lang="en-US" sz="2000" dirty="0" smtClean="0"/>
              <a:t>Apply AI techniques for better forecasting accuracy </a:t>
            </a:r>
          </a:p>
          <a:p>
            <a:pPr>
              <a:buNone/>
            </a:pPr>
            <a:endParaRPr lang="en-US" sz="2000" b="1" dirty="0" smtClean="0"/>
          </a:p>
          <a:p>
            <a:endParaRPr lang="en-US" sz="20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latin typeface="Arial Black" pitchFamily="34" charset="0"/>
              </a:rPr>
              <a:t>conclusion</a:t>
            </a:r>
            <a:endParaRPr lang="en-US" sz="2400" dirty="0">
              <a:latin typeface="Arial Black" pitchFamily="34" charset="0"/>
            </a:endParaRPr>
          </a:p>
        </p:txBody>
      </p:sp>
      <p:sp>
        <p:nvSpPr>
          <p:cNvPr id="3" name="Content Placeholder 2"/>
          <p:cNvSpPr>
            <a:spLocks noGrp="1"/>
          </p:cNvSpPr>
          <p:nvPr>
            <p:ph idx="1"/>
          </p:nvPr>
        </p:nvSpPr>
        <p:spPr>
          <a:xfrm>
            <a:off x="838200" y="1366092"/>
            <a:ext cx="10515600" cy="4810871"/>
          </a:xfrm>
        </p:spPr>
        <p:txBody>
          <a:bodyPr>
            <a:normAutofit/>
          </a:bodyPr>
          <a:lstStyle/>
          <a:p>
            <a:r>
              <a:rPr lang="en-US" sz="2000" dirty="0" smtClean="0"/>
              <a:t>The proposed system successfully predicts sales trends using Simple Linear Regression by analyzing historical data. By incorporating human behavior factors such as seasonal demand and customer preferences, the accuracy of the predictions is significantly improved. The system provides a clear understanding of sales patterns and helps in forecasting future demand effectively. It is simple, efficient, and easy to implement, making it suitable for real-world business applications. Overall, the project supports better decision-making and planning by delivering reliable sales insights.</a:t>
            </a:r>
          </a:p>
          <a:p>
            <a:endParaRPr lang="en-US" sz="20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400" dirty="0" smtClean="0">
                <a:latin typeface="Arial Black" pitchFamily="34" charset="0"/>
              </a:rPr>
              <a:t>References</a:t>
            </a:r>
            <a:endParaRPr lang="en-US" sz="2400" dirty="0">
              <a:latin typeface="Arial Black" pitchFamily="34" charset="0"/>
            </a:endParaRPr>
          </a:p>
        </p:txBody>
      </p:sp>
      <p:sp>
        <p:nvSpPr>
          <p:cNvPr id="3" name="Content Placeholder 2"/>
          <p:cNvSpPr>
            <a:spLocks noGrp="1"/>
          </p:cNvSpPr>
          <p:nvPr>
            <p:ph idx="1"/>
          </p:nvPr>
        </p:nvSpPr>
        <p:spPr>
          <a:xfrm>
            <a:off x="838200" y="1442720"/>
            <a:ext cx="10515600" cy="4734243"/>
          </a:xfrm>
        </p:spPr>
        <p:txBody>
          <a:bodyPr>
            <a:normAutofit/>
          </a:bodyPr>
          <a:lstStyle/>
          <a:p>
            <a:r>
              <a:rPr lang="en-US" sz="2000" dirty="0" smtClean="0"/>
              <a:t>Ackerman, M.S., L.F. Cranor, and J. Reagle. (1999). “Privacy in E-Commerce: Examining User Scenarios and Privacy Preferences.” In </a:t>
            </a:r>
            <a:r>
              <a:rPr lang="en-US" sz="2000" i="1" dirty="0" smtClean="0"/>
              <a:t>Proceedings of the ACM on E-Commerce</a:t>
            </a:r>
            <a:r>
              <a:rPr lang="en-US" sz="2000" dirty="0" smtClean="0"/>
              <a:t>, Denver, Colorado.</a:t>
            </a:r>
          </a:p>
          <a:p>
            <a:r>
              <a:rPr lang="en-US" sz="2000" dirty="0" smtClean="0"/>
              <a:t>Annacker, D., S. Spiekermann, and M. Strobel. (2001). “E-privacy: Evaluating a New Search Cost in Online Environments.” In </a:t>
            </a:r>
            <a:r>
              <a:rPr lang="en-US" sz="2000" i="1" dirty="0" smtClean="0"/>
              <a:t>Proceedings of the 14th Bled Conference of Electronic Commerce</a:t>
            </a:r>
            <a:r>
              <a:rPr lang="en-US" sz="2000" dirty="0" smtClean="0"/>
              <a:t>, Blet, Slovenia.</a:t>
            </a:r>
          </a:p>
          <a:p>
            <a:r>
              <a:rPr lang="en-US" sz="2000" dirty="0" smtClean="0"/>
              <a:t>Ariely, D. (2000). “Controlling the Information Flow: Effects on Consumers' Decision Making and Preferences.” </a:t>
            </a:r>
            <a:r>
              <a:rPr lang="en-US" sz="2000" i="1" dirty="0" smtClean="0"/>
              <a:t>Journal of Consumer Research</a:t>
            </a:r>
            <a:r>
              <a:rPr lang="en-US" sz="2000" dirty="0" smtClean="0"/>
              <a:t>, forthcoming, currently on: http://www.mit.edu/~ariely/.</a:t>
            </a:r>
          </a:p>
          <a:p>
            <a:r>
              <a:rPr lang="en-US" sz="2000" dirty="0" smtClean="0"/>
              <a:t>Bauer, R.A. (1960). “Consumer Behavior as Risk Taking.” In R. Hancock (ed.), </a:t>
            </a:r>
            <a:r>
              <a:rPr lang="en-US" sz="2000" i="1" dirty="0" smtClean="0"/>
              <a:t>Dynamic Marketing for a Changing World</a:t>
            </a:r>
            <a:r>
              <a:rPr lang="en-US" sz="2000" dirty="0" smtClean="0"/>
              <a:t>, Chicago, 389–398.</a:t>
            </a:r>
          </a:p>
          <a:p>
            <a:r>
              <a:rPr lang="en-US" sz="2000" dirty="0" smtClean="0"/>
              <a:t>Bäumler, H. (2000). </a:t>
            </a:r>
            <a:r>
              <a:rPr lang="en-US" sz="2000" i="1" dirty="0" smtClean="0"/>
              <a:t>E-Privacy - Datenschutz im Internet</a:t>
            </a:r>
            <a:r>
              <a:rPr lang="en-US" sz="2000" dirty="0" smtClean="0"/>
              <a:t>. Braunschweig/Wiesbaden</a:t>
            </a:r>
            <a:r>
              <a:rPr lang="en-US" sz="2000" dirty="0" smtClean="0"/>
              <a:t>.</a:t>
            </a:r>
            <a:endParaRPr lang="en-US" sz="2000"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959</TotalTime>
  <Words>830</Words>
  <Application>Microsoft Office PowerPoint</Application>
  <PresentationFormat>Custom</PresentationFormat>
  <Paragraphs>102</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Slide 1</vt:lpstr>
      <vt:lpstr>Problem statement</vt:lpstr>
      <vt:lpstr>Objectives</vt:lpstr>
      <vt:lpstr>Existing system &amp; limitations</vt:lpstr>
      <vt:lpstr>Proposed system</vt:lpstr>
      <vt:lpstr>System architecture</vt:lpstr>
      <vt:lpstr>Technology Stack</vt:lpstr>
      <vt:lpstr>Slide 8</vt:lpstr>
      <vt:lpstr>Class diagram</vt:lpstr>
      <vt:lpstr>ER diagram</vt:lpstr>
      <vt:lpstr>System Workflow </vt:lpstr>
      <vt:lpstr>Dataset description</vt:lpstr>
      <vt:lpstr>Methodology / Model Used </vt:lpstr>
      <vt:lpstr>Slide 14</vt:lpstr>
      <vt:lpstr>Slide 15</vt:lpstr>
      <vt:lpstr>Output Results </vt:lpstr>
      <vt:lpstr>Performance Analysis / Evaluation </vt:lpstr>
      <vt:lpstr>Future Enhancements </vt:lpstr>
      <vt:lpstr>conclusion</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Lenova</dc:creator>
  <cp:lastModifiedBy>lakshmi barri</cp:lastModifiedBy>
  <cp:revision>24</cp:revision>
  <dcterms:modified xsi:type="dcterms:W3CDTF">2026-04-02T06:53:57Z</dcterms:modified>
</cp:coreProperties>
</file>